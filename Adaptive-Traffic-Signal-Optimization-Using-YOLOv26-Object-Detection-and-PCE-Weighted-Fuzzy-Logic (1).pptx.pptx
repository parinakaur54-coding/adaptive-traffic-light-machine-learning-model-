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Roboto Slab" charset="1" panose="00000000000000000000"/>
      <p:regular r:id="rId23"/>
    </p:embeddedFont>
    <p:embeddedFont>
      <p:font typeface="Roboto Bold" charset="1" panose="02000000000000000000"/>
      <p:regular r:id="rId24"/>
    </p:embeddedFont>
    <p:embeddedFont>
      <p:font typeface="Roboto" charset="1" panose="02000000000000000000"/>
      <p:regular r:id="rId25"/>
    </p:embeddedFont>
    <p:embeddedFont>
      <p:font typeface="Roboto Slab Bold" charset="1" panose="000000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Relationship Id="rId4" Target="../media/image11.jpe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4.png" Type="http://schemas.openxmlformats.org/officeDocument/2006/relationships/image"/><Relationship Id="rId4" Target="../media/image2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colab.research.google.com/drive/1FinUPdezVD6gWCcihZl1IIr3x1-TDU0p?usp=sharing" TargetMode="External" Type="http://schemas.openxmlformats.org/officeDocument/2006/relationships/hyperlink"/><Relationship Id="rId3" Target="https://universe.roboflow.com/arkhsat-project/indonesia-vehicle-ww6hv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2910957"/>
            <a:ext cx="9445523" cy="445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Adaptive Traffic Signal Optimization Using YOLOv26 Object Detection and PCE-Weighted Fuzzy Logic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934823"/>
            <a:ext cx="2801928" cy="1576085"/>
            <a:chOff x="0" y="0"/>
            <a:chExt cx="24384000" cy="137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6"/>
              <a:stretch>
                <a:fillRect l="0" t="-4700" r="0" b="-470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7699346"/>
            <a:ext cx="9445523" cy="1299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Tengku Rifandi Dimas A</a:t>
            </a:r>
            <a:r>
              <a:rPr lang="en-US" sz="21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</a:t>
            </a:r>
            <a:r>
              <a:rPr lang="en-US" sz="2199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Karli Eka Setiawan</a:t>
            </a:r>
            <a:r>
              <a:rPr lang="en-US" sz="21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</a:t>
            </a:r>
            <a:r>
              <a:rPr lang="en-US" sz="2199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Pareendeep Kaur</a:t>
            </a:r>
            <a:r>
              <a:rPr lang="en-US" sz="21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</a:t>
            </a:r>
            <a:r>
              <a:rPr lang="en-US" sz="2199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Satriadi Putra Santika</a:t>
            </a:r>
            <a:r>
              <a:rPr lang="en-US" sz="21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</a:t>
            </a:r>
            <a:r>
              <a:rPr lang="en-US" sz="2199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Tobias Nevanael Taas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CBina Nusantara University, Jakarta, Indonesia 11480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779707"/>
            <a:ext cx="1961469" cy="482635"/>
            <a:chOff x="0" y="0"/>
            <a:chExt cx="1824241" cy="4488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4228" cy="448818"/>
            </a:xfrm>
            <a:custGeom>
              <a:avLst/>
              <a:gdLst/>
              <a:ahLst/>
              <a:cxnLst/>
              <a:rect r="r" b="b" t="t" l="l"/>
              <a:pathLst>
                <a:path h="448818" w="1824228">
                  <a:moveTo>
                    <a:pt x="0" y="31877"/>
                  </a:moveTo>
                  <a:cubicBezTo>
                    <a:pt x="0" y="14224"/>
                    <a:pt x="14224" y="0"/>
                    <a:pt x="31877" y="0"/>
                  </a:cubicBezTo>
                  <a:lnTo>
                    <a:pt x="1792351" y="0"/>
                  </a:lnTo>
                  <a:cubicBezTo>
                    <a:pt x="1810004" y="0"/>
                    <a:pt x="1824228" y="14224"/>
                    <a:pt x="1824228" y="31877"/>
                  </a:cubicBezTo>
                  <a:lnTo>
                    <a:pt x="1824228" y="416941"/>
                  </a:lnTo>
                  <a:cubicBezTo>
                    <a:pt x="1824228" y="434594"/>
                    <a:pt x="1810004" y="448818"/>
                    <a:pt x="1792351" y="448818"/>
                  </a:cubicBezTo>
                  <a:lnTo>
                    <a:pt x="31877" y="448818"/>
                  </a:lnTo>
                  <a:cubicBezTo>
                    <a:pt x="14224" y="448818"/>
                    <a:pt x="0" y="434594"/>
                    <a:pt x="0" y="416941"/>
                  </a:cubicBezTo>
                  <a:close/>
                </a:path>
              </a:pathLst>
            </a:custGeom>
            <a:solidFill>
              <a:srgbClr val="D7DFF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3572" y="827171"/>
            <a:ext cx="2929716" cy="34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72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323517"/>
            <a:ext cx="9426252" cy="91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7"/>
              </a:lnSpc>
            </a:pPr>
            <a:r>
              <a:rPr lang="en-US" sz="5591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The Urban Traffic Crisis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2613124"/>
            <a:ext cx="6763719" cy="3832752"/>
            <a:chOff x="0" y="0"/>
            <a:chExt cx="13902728" cy="787816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3902689" cy="7878191"/>
            </a:xfrm>
            <a:custGeom>
              <a:avLst/>
              <a:gdLst/>
              <a:ahLst/>
              <a:cxnLst/>
              <a:rect r="r" b="b" t="t" l="l"/>
              <a:pathLst>
                <a:path h="7878191" w="13902689">
                  <a:moveTo>
                    <a:pt x="0" y="0"/>
                  </a:moveTo>
                  <a:lnTo>
                    <a:pt x="13902689" y="0"/>
                  </a:lnTo>
                  <a:lnTo>
                    <a:pt x="13902689" y="7878191"/>
                  </a:lnTo>
                  <a:lnTo>
                    <a:pt x="0" y="7878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0" r="0" b="-4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024806" y="2776586"/>
            <a:ext cx="8453890" cy="2227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8"/>
              </a:lnSpc>
            </a:pPr>
            <a:r>
              <a:rPr lang="en-US" sz="3251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Rapid urbanization and population growth have overwhelmed traditional infrastructure. </a:t>
            </a:r>
            <a:r>
              <a:rPr lang="en-US" sz="3251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Fixed-time traffic signals</a:t>
            </a:r>
            <a:r>
              <a:rPr lang="en-US" sz="3251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ignore real-time vehicle density, causing: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2145663" y="6823290"/>
            <a:ext cx="6907775" cy="1452080"/>
          </a:xfrm>
          <a:custGeom>
            <a:avLst/>
            <a:gdLst/>
            <a:ahLst/>
            <a:cxnLst/>
            <a:rect r="r" b="b" t="t" l="l"/>
            <a:pathLst>
              <a:path h="1452080" w="6907775">
                <a:moveTo>
                  <a:pt x="0" y="0"/>
                </a:moveTo>
                <a:lnTo>
                  <a:pt x="6907775" y="0"/>
                </a:lnTo>
                <a:lnTo>
                  <a:pt x="6907775" y="1452080"/>
                </a:lnTo>
                <a:lnTo>
                  <a:pt x="0" y="1452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0" r="0" b="-3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588179" y="7108456"/>
            <a:ext cx="3222910" cy="4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6"/>
              </a:lnSpc>
            </a:pPr>
            <a:r>
              <a:rPr lang="en-US" sz="2457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Economic Loss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88179" y="7581771"/>
            <a:ext cx="6170568" cy="398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93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Wasted fuel and productivity from idling vehicles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234562" y="6823290"/>
            <a:ext cx="6907775" cy="1452080"/>
          </a:xfrm>
          <a:custGeom>
            <a:avLst/>
            <a:gdLst/>
            <a:ahLst/>
            <a:cxnLst/>
            <a:rect r="r" b="b" t="t" l="l"/>
            <a:pathLst>
              <a:path h="1452080" w="6907775">
                <a:moveTo>
                  <a:pt x="0" y="0"/>
                </a:moveTo>
                <a:lnTo>
                  <a:pt x="6907775" y="0"/>
                </a:lnTo>
                <a:lnTo>
                  <a:pt x="6907775" y="1452080"/>
                </a:lnTo>
                <a:lnTo>
                  <a:pt x="0" y="1452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0" r="0" b="-3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677078" y="7108456"/>
            <a:ext cx="3593435" cy="4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6"/>
              </a:lnSpc>
            </a:pPr>
            <a:r>
              <a:rPr lang="en-US" sz="2457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Environmental Damage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77078" y="7581771"/>
            <a:ext cx="6170568" cy="398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93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Increased CO₂ emissions from unnecessary stops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5935928" y="8566953"/>
            <a:ext cx="6597267" cy="1386808"/>
          </a:xfrm>
          <a:custGeom>
            <a:avLst/>
            <a:gdLst/>
            <a:ahLst/>
            <a:cxnLst/>
            <a:rect r="r" b="b" t="t" l="l"/>
            <a:pathLst>
              <a:path h="1386808" w="6597267">
                <a:moveTo>
                  <a:pt x="0" y="0"/>
                </a:moveTo>
                <a:lnTo>
                  <a:pt x="6597267" y="0"/>
                </a:lnTo>
                <a:lnTo>
                  <a:pt x="6597267" y="1386809"/>
                </a:lnTo>
                <a:lnTo>
                  <a:pt x="0" y="1386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0" r="0" b="-3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358553" y="8838872"/>
            <a:ext cx="3078038" cy="394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346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Driver Frustration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58553" y="9298725"/>
            <a:ext cx="5893198" cy="373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sz="1852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Green lights on empty lanes while others queue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482033"/>
            <a:ext cx="2148087" cy="542626"/>
            <a:chOff x="0" y="0"/>
            <a:chExt cx="2812250" cy="710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12288" cy="710438"/>
            </a:xfrm>
            <a:custGeom>
              <a:avLst/>
              <a:gdLst/>
              <a:ahLst/>
              <a:cxnLst/>
              <a:rect r="r" b="b" t="t" l="l"/>
              <a:pathLst>
                <a:path h="710438" w="2812288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766949" y="0"/>
                  </a:lnTo>
                  <a:cubicBezTo>
                    <a:pt x="2791968" y="0"/>
                    <a:pt x="2812288" y="20320"/>
                    <a:pt x="2812288" y="45339"/>
                  </a:cubicBezTo>
                  <a:lnTo>
                    <a:pt x="2812288" y="665099"/>
                  </a:lnTo>
                  <a:cubicBezTo>
                    <a:pt x="2812288" y="690118"/>
                    <a:pt x="2791968" y="710438"/>
                    <a:pt x="2766949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D7DFF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5483" y="1501907"/>
            <a:ext cx="2732863" cy="436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3"/>
              </a:lnSpc>
            </a:pPr>
            <a:r>
              <a:rPr lang="en-US" sz="1731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RELATED WORKS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121105"/>
            <a:ext cx="11185174" cy="921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0"/>
              </a:lnSpc>
            </a:pPr>
            <a:r>
              <a:rPr lang="en-US" sz="5601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What Exists &amp; What's Missing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3475521"/>
            <a:ext cx="8157663" cy="2587809"/>
            <a:chOff x="0" y="0"/>
            <a:chExt cx="10679913" cy="33879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79937" cy="3387979"/>
            </a:xfrm>
            <a:custGeom>
              <a:avLst/>
              <a:gdLst/>
              <a:ahLst/>
              <a:cxnLst/>
              <a:rect r="r" b="b" t="t" l="l"/>
              <a:pathLst>
                <a:path h="3387979" w="1067993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169" y="0"/>
                  </a:lnTo>
                  <a:cubicBezTo>
                    <a:pt x="10654537" y="0"/>
                    <a:pt x="10679937" y="25400"/>
                    <a:pt x="10679937" y="56769"/>
                  </a:cubicBezTo>
                  <a:lnTo>
                    <a:pt x="10679937" y="3331210"/>
                  </a:lnTo>
                  <a:cubicBezTo>
                    <a:pt x="10679937" y="3362579"/>
                    <a:pt x="10654537" y="3387979"/>
                    <a:pt x="10623169" y="3387979"/>
                  </a:cubicBezTo>
                  <a:lnTo>
                    <a:pt x="56769" y="3387979"/>
                  </a:lnTo>
                  <a:cubicBezTo>
                    <a:pt x="25400" y="3387979"/>
                    <a:pt x="0" y="3362579"/>
                    <a:pt x="0" y="3331210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80979" y="3745211"/>
            <a:ext cx="3609406" cy="47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749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YOLO Frameworks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0979" y="4293346"/>
            <a:ext cx="7580163" cy="148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5"/>
              </a:lnSpc>
            </a:pPr>
            <a:r>
              <a:rPr lang="en-US" sz="224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YOLOv8 is widely studied but faces </a:t>
            </a:r>
            <a:r>
              <a:rPr lang="en-US" sz="2240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occlusion problems</a:t>
            </a:r>
            <a:r>
              <a:rPr lang="en-US" sz="224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larger vehicles hide smaller ones in heavy congestion, rain, or fog.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38642" y="3475521"/>
            <a:ext cx="8157808" cy="2587809"/>
            <a:chOff x="0" y="0"/>
            <a:chExt cx="10680103" cy="33879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80192" cy="3387979"/>
            </a:xfrm>
            <a:custGeom>
              <a:avLst/>
              <a:gdLst/>
              <a:ahLst/>
              <a:cxnLst/>
              <a:rect r="r" b="b" t="t" l="l"/>
              <a:pathLst>
                <a:path h="3387979" w="1068019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423" y="0"/>
                  </a:lnTo>
                  <a:cubicBezTo>
                    <a:pt x="10654792" y="0"/>
                    <a:pt x="10680192" y="25400"/>
                    <a:pt x="10680192" y="56769"/>
                  </a:cubicBezTo>
                  <a:lnTo>
                    <a:pt x="10680192" y="3331210"/>
                  </a:lnTo>
                  <a:cubicBezTo>
                    <a:pt x="10680192" y="3362579"/>
                    <a:pt x="10654792" y="3387979"/>
                    <a:pt x="10623423" y="3387979"/>
                  </a:cubicBezTo>
                  <a:lnTo>
                    <a:pt x="56769" y="3387979"/>
                  </a:lnTo>
                  <a:cubicBezTo>
                    <a:pt x="25400" y="3387979"/>
                    <a:pt x="0" y="3362579"/>
                    <a:pt x="0" y="3331210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727392" y="3745211"/>
            <a:ext cx="3609406" cy="47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749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Fuzzy Logic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27392" y="4293346"/>
            <a:ext cx="7580318" cy="148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5"/>
              </a:lnSpc>
            </a:pPr>
            <a:r>
              <a:rPr lang="en-US" sz="224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Translates vehicle counts into </a:t>
            </a:r>
            <a:r>
              <a:rPr lang="en-US" sz="2240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low/medium/high density</a:t>
            </a:r>
            <a:r>
              <a:rPr lang="en-US" sz="224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categories, enabling robust timing decisions even with detection noise.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2238" y="6352070"/>
            <a:ext cx="8157663" cy="2587809"/>
            <a:chOff x="0" y="0"/>
            <a:chExt cx="10679913" cy="33879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79937" cy="3387979"/>
            </a:xfrm>
            <a:custGeom>
              <a:avLst/>
              <a:gdLst/>
              <a:ahLst/>
              <a:cxnLst/>
              <a:rect r="r" b="b" t="t" l="l"/>
              <a:pathLst>
                <a:path h="3387979" w="1067993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169" y="0"/>
                  </a:lnTo>
                  <a:cubicBezTo>
                    <a:pt x="10654537" y="0"/>
                    <a:pt x="10679937" y="25400"/>
                    <a:pt x="10679937" y="56769"/>
                  </a:cubicBezTo>
                  <a:lnTo>
                    <a:pt x="10679937" y="3331210"/>
                  </a:lnTo>
                  <a:cubicBezTo>
                    <a:pt x="10679937" y="3362579"/>
                    <a:pt x="10654537" y="3387979"/>
                    <a:pt x="10623169" y="3387979"/>
                  </a:cubicBezTo>
                  <a:lnTo>
                    <a:pt x="56769" y="3387979"/>
                  </a:lnTo>
                  <a:cubicBezTo>
                    <a:pt x="25400" y="3387979"/>
                    <a:pt x="0" y="3362579"/>
                    <a:pt x="0" y="3331210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80979" y="6621771"/>
            <a:ext cx="4157494" cy="47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749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Reinforcement Learning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0979" y="7169896"/>
            <a:ext cx="7580163" cy="1019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5"/>
              </a:lnSpc>
            </a:pPr>
            <a:r>
              <a:rPr lang="en-US" sz="224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Computationally intensive and </a:t>
            </a:r>
            <a:r>
              <a:rPr lang="en-US" sz="2240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not yet field-deployed</a:t>
            </a:r>
            <a:r>
              <a:rPr lang="en-US" sz="224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; fuzzy logic is more stable and interpretable for agencies.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438642" y="6352070"/>
            <a:ext cx="8157808" cy="2587809"/>
            <a:chOff x="0" y="0"/>
            <a:chExt cx="10680103" cy="33879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80192" cy="3387979"/>
            </a:xfrm>
            <a:custGeom>
              <a:avLst/>
              <a:gdLst/>
              <a:ahLst/>
              <a:cxnLst/>
              <a:rect r="r" b="b" t="t" l="l"/>
              <a:pathLst>
                <a:path h="3387979" w="1068019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423" y="0"/>
                  </a:lnTo>
                  <a:cubicBezTo>
                    <a:pt x="10654792" y="0"/>
                    <a:pt x="10680192" y="25400"/>
                    <a:pt x="10680192" y="56769"/>
                  </a:cubicBezTo>
                  <a:lnTo>
                    <a:pt x="10680192" y="3331210"/>
                  </a:lnTo>
                  <a:cubicBezTo>
                    <a:pt x="10680192" y="3362579"/>
                    <a:pt x="10654792" y="3387979"/>
                    <a:pt x="10623423" y="3387979"/>
                  </a:cubicBezTo>
                  <a:lnTo>
                    <a:pt x="56769" y="3387979"/>
                  </a:lnTo>
                  <a:cubicBezTo>
                    <a:pt x="25400" y="3387979"/>
                    <a:pt x="0" y="3362579"/>
                    <a:pt x="0" y="3331210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727392" y="6621771"/>
            <a:ext cx="3609406" cy="47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749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Research Gap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27392" y="7169896"/>
            <a:ext cx="7580318" cy="148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5"/>
              </a:lnSpc>
            </a:pPr>
            <a:r>
              <a:rPr lang="en-US" sz="224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Most prior work uses </a:t>
            </a:r>
            <a:r>
              <a:rPr lang="en-US" sz="2240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older YOLO versions</a:t>
            </a:r>
            <a:r>
              <a:rPr lang="en-US" sz="224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and idealized Western datasets — not heterogeneous Asian traffic conditions.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827087"/>
            <a:ext cx="2862937" cy="530725"/>
            <a:chOff x="0" y="0"/>
            <a:chExt cx="1959966" cy="3633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9991" cy="363347"/>
            </a:xfrm>
            <a:custGeom>
              <a:avLst/>
              <a:gdLst/>
              <a:ahLst/>
              <a:cxnLst/>
              <a:rect r="r" b="b" t="t" l="l"/>
              <a:pathLst>
                <a:path h="363347" w="1959991">
                  <a:moveTo>
                    <a:pt x="0" y="26924"/>
                  </a:moveTo>
                  <a:cubicBezTo>
                    <a:pt x="0" y="12065"/>
                    <a:pt x="12065" y="0"/>
                    <a:pt x="26924" y="0"/>
                  </a:cubicBezTo>
                  <a:lnTo>
                    <a:pt x="1933067" y="0"/>
                  </a:lnTo>
                  <a:cubicBezTo>
                    <a:pt x="1947926" y="0"/>
                    <a:pt x="1959991" y="12065"/>
                    <a:pt x="1959991" y="26924"/>
                  </a:cubicBezTo>
                  <a:lnTo>
                    <a:pt x="1959991" y="336423"/>
                  </a:lnTo>
                  <a:cubicBezTo>
                    <a:pt x="1959991" y="351282"/>
                    <a:pt x="1947926" y="363347"/>
                    <a:pt x="1933067" y="363347"/>
                  </a:cubicBezTo>
                  <a:lnTo>
                    <a:pt x="26924" y="363347"/>
                  </a:lnTo>
                  <a:cubicBezTo>
                    <a:pt x="12065" y="363347"/>
                    <a:pt x="0" y="351282"/>
                    <a:pt x="0" y="336423"/>
                  </a:cubicBezTo>
                  <a:close/>
                </a:path>
              </a:pathLst>
            </a:custGeom>
            <a:solidFill>
              <a:srgbClr val="D7DFF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25229" y="906283"/>
            <a:ext cx="4250792" cy="298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1947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METHODOLOGY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77275" y="1453062"/>
            <a:ext cx="12981084" cy="62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8"/>
              </a:lnSpc>
            </a:pPr>
            <a:r>
              <a:rPr lang="en-US" sz="3845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Our Solution: YOLOv26 + PCE-Weighted Fuzzy Logic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462212" y="2075593"/>
            <a:ext cx="13392782" cy="5874823"/>
            <a:chOff x="0" y="0"/>
            <a:chExt cx="21738031" cy="953551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21738082" cy="9535541"/>
            </a:xfrm>
            <a:custGeom>
              <a:avLst/>
              <a:gdLst/>
              <a:ahLst/>
              <a:cxnLst/>
              <a:rect r="r" b="b" t="t" l="l"/>
              <a:pathLst>
                <a:path h="9535541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9535541"/>
                  </a:lnTo>
                  <a:lnTo>
                    <a:pt x="0" y="9535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" r="0" b="-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520963" y="6264707"/>
            <a:ext cx="2024148" cy="36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8"/>
              </a:lnSpc>
            </a:pPr>
            <a:r>
              <a:rPr lang="en-US" sz="2217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Convert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20963" y="6758798"/>
            <a:ext cx="2024148" cy="66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807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Translate counts to PCE-weighted values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51197" y="6264707"/>
            <a:ext cx="2024148" cy="36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8"/>
              </a:lnSpc>
            </a:pPr>
            <a:r>
              <a:rPr lang="en-US" sz="2217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Control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51197" y="6758798"/>
            <a:ext cx="2024148" cy="66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807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Output optimal green duration in seconds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76720" y="2603611"/>
            <a:ext cx="2024148" cy="36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8"/>
              </a:lnSpc>
            </a:pPr>
            <a:r>
              <a:rPr lang="en-US" sz="2217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Detect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76720" y="3097702"/>
            <a:ext cx="2024148" cy="66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807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YOLOv26 finds vehicles in real-time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81180" y="2603611"/>
            <a:ext cx="2024148" cy="36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8"/>
              </a:lnSpc>
            </a:pPr>
            <a:r>
              <a:rPr lang="en-US" sz="2217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Classify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81180" y="3097702"/>
            <a:ext cx="2024148" cy="66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807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Fuzzy logic rates density Low/Medium/High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6040" y="7932910"/>
            <a:ext cx="16403555" cy="175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1"/>
              </a:lnSpc>
            </a:pPr>
            <a:r>
              <a:rPr lang="en-US" sz="2745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YOLOv26 is the </a:t>
            </a:r>
            <a:r>
              <a:rPr lang="en-US" sz="2745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latest evolution</a:t>
            </a:r>
            <a:r>
              <a:rPr lang="en-US" sz="2745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in the YOLO series — engineered for edge devices with streamlined architecture, removing unnecessary complexity while delivering faster, lighter deployment. Fuzzy logic handles uncertainty by treating congestion as a </a:t>
            </a:r>
            <a:r>
              <a:rPr lang="en-US" sz="2745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spectrum</a:t>
            </a:r>
            <a:r>
              <a:rPr lang="en-US" sz="2745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, not just empty or full, and dynamically scales green time based on actual demand.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0382" y="857107"/>
            <a:ext cx="1988191" cy="532800"/>
            <a:chOff x="0" y="0"/>
            <a:chExt cx="2650922" cy="710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50871" cy="710438"/>
            </a:xfrm>
            <a:custGeom>
              <a:avLst/>
              <a:gdLst/>
              <a:ahLst/>
              <a:cxnLst/>
              <a:rect r="r" b="b" t="t" l="l"/>
              <a:pathLst>
                <a:path h="710438" w="2650871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605532" y="0"/>
                  </a:lnTo>
                  <a:cubicBezTo>
                    <a:pt x="2630551" y="0"/>
                    <a:pt x="2650871" y="20320"/>
                    <a:pt x="2650871" y="45339"/>
                  </a:cubicBezTo>
                  <a:lnTo>
                    <a:pt x="2650871" y="665099"/>
                  </a:lnTo>
                  <a:cubicBezTo>
                    <a:pt x="2650871" y="690118"/>
                    <a:pt x="2630551" y="710438"/>
                    <a:pt x="2605532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D7DFF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6443" y="7895842"/>
            <a:ext cx="5245446" cy="1633690"/>
            <a:chOff x="0" y="0"/>
            <a:chExt cx="6993928" cy="21782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93890" cy="2178177"/>
            </a:xfrm>
            <a:custGeom>
              <a:avLst/>
              <a:gdLst/>
              <a:ahLst/>
              <a:cxnLst/>
              <a:rect r="r" b="b" t="t" l="l"/>
              <a:pathLst>
                <a:path h="2178177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2121535"/>
                  </a:lnTo>
                  <a:cubicBezTo>
                    <a:pt x="6993890" y="2152904"/>
                    <a:pt x="6968490" y="2178177"/>
                    <a:pt x="6937248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5410" y="7895842"/>
            <a:ext cx="5245446" cy="1633690"/>
            <a:chOff x="0" y="0"/>
            <a:chExt cx="6993928" cy="21782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93890" cy="2178177"/>
            </a:xfrm>
            <a:custGeom>
              <a:avLst/>
              <a:gdLst/>
              <a:ahLst/>
              <a:cxnLst/>
              <a:rect r="r" b="b" t="t" l="l"/>
              <a:pathLst>
                <a:path h="2178177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2121535"/>
                  </a:lnTo>
                  <a:cubicBezTo>
                    <a:pt x="6993890" y="2152904"/>
                    <a:pt x="6968490" y="2178177"/>
                    <a:pt x="6937248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704368" y="7895842"/>
            <a:ext cx="5245446" cy="1633690"/>
            <a:chOff x="0" y="0"/>
            <a:chExt cx="6993928" cy="21782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93890" cy="2178177"/>
            </a:xfrm>
            <a:custGeom>
              <a:avLst/>
              <a:gdLst/>
              <a:ahLst/>
              <a:cxnLst/>
              <a:rect r="r" b="b" t="t" l="l"/>
              <a:pathLst>
                <a:path h="2178177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2121535"/>
                  </a:lnTo>
                  <a:cubicBezTo>
                    <a:pt x="6993890" y="2152904"/>
                    <a:pt x="6968490" y="2178177"/>
                    <a:pt x="6937248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56528" y="911595"/>
            <a:ext cx="2562377" cy="34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METHODOLOGY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0382" y="1561357"/>
            <a:ext cx="12919767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Dataset &amp; Exploratory Data Analysis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6844" y="2666409"/>
            <a:ext cx="44584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Dataset Overview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6844" y="3307118"/>
            <a:ext cx="7805890" cy="860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Open-source Indonesian vehicle dataset from </a:t>
            </a:r>
            <a:r>
              <a:rPr lang="en-US" sz="2199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Roboflow (Arkhsat Project)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44012" y="2666409"/>
            <a:ext cx="44584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EDA Findings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44012" y="3307118"/>
            <a:ext cx="7805890" cy="281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Unlike traditional traffic repositories with severe class imbalances, this dataset maintains a </a:t>
            </a:r>
            <a:r>
              <a:rPr lang="en-US" sz="2199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balanced footprint</a:t>
            </a:r>
            <a:r>
              <a:rPr lang="en-US" sz="21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every category (bus, truck, car, motorcycle, pickup) safely exceeds </a:t>
            </a:r>
            <a:r>
              <a:rPr lang="en-US" sz="2199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2,000 instances</a:t>
            </a:r>
            <a:r>
              <a:rPr lang="en-US" sz="21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. This structural homogeneity avoids majority-class bias in YOLOv26, ensuring reliable density data for the fuzzy logic controller.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8333" y="4806201"/>
            <a:ext cx="4205671" cy="2365690"/>
            <a:chOff x="0" y="0"/>
            <a:chExt cx="24384000" cy="1371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 l="-197" t="0" r="-197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38098" y="791845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10,500+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8098" y="8445759"/>
            <a:ext cx="467841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Total Images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67065" y="791845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5 Classes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67065" y="8445759"/>
            <a:ext cx="467841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Pickup, Bus, Car, Motorcycle, Truck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96033" y="791845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HD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96033" y="8445759"/>
            <a:ext cx="467841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High Definition JPEG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866480"/>
            <a:ext cx="1739951" cy="446637"/>
            <a:chOff x="0" y="0"/>
            <a:chExt cx="2319934" cy="5955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20036" cy="595503"/>
            </a:xfrm>
            <a:custGeom>
              <a:avLst/>
              <a:gdLst/>
              <a:ahLst/>
              <a:cxnLst/>
              <a:rect r="r" b="b" t="t" l="l"/>
              <a:pathLst>
                <a:path h="595503" w="2320036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2280285" y="0"/>
                  </a:lnTo>
                  <a:cubicBezTo>
                    <a:pt x="2302256" y="0"/>
                    <a:pt x="2320036" y="17780"/>
                    <a:pt x="2320036" y="39751"/>
                  </a:cubicBezTo>
                  <a:lnTo>
                    <a:pt x="2320036" y="555752"/>
                  </a:lnTo>
                  <a:cubicBezTo>
                    <a:pt x="2320036" y="577723"/>
                    <a:pt x="2302256" y="595503"/>
                    <a:pt x="2280285" y="595503"/>
                  </a:cubicBezTo>
                  <a:lnTo>
                    <a:pt x="39751" y="595503"/>
                  </a:lnTo>
                  <a:cubicBezTo>
                    <a:pt x="17780" y="595503"/>
                    <a:pt x="0" y="577723"/>
                    <a:pt x="0" y="555752"/>
                  </a:cubicBezTo>
                  <a:close/>
                </a:path>
              </a:pathLst>
            </a:custGeom>
            <a:solidFill>
              <a:srgbClr val="D7DF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3017939"/>
            <a:ext cx="7664202" cy="6240361"/>
            <a:chOff x="0" y="0"/>
            <a:chExt cx="13847166" cy="112746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47190" cy="11274592"/>
            </a:xfrm>
            <a:custGeom>
              <a:avLst/>
              <a:gdLst/>
              <a:ahLst/>
              <a:cxnLst/>
              <a:rect r="r" b="b" t="t" l="l"/>
              <a:pathLst>
                <a:path h="11274592" w="13847190">
                  <a:moveTo>
                    <a:pt x="0" y="0"/>
                  </a:moveTo>
                  <a:lnTo>
                    <a:pt x="13847190" y="0"/>
                  </a:lnTo>
                  <a:lnTo>
                    <a:pt x="13847190" y="11274592"/>
                  </a:lnTo>
                  <a:lnTo>
                    <a:pt x="0" y="11274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6" r="0" b="-13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41066" y="883739"/>
            <a:ext cx="2356695" cy="35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METHODOLOGY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1390355"/>
            <a:ext cx="12237691" cy="78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YOLOv26 Architecture &amp; Preprocessing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76689" y="2998889"/>
            <a:ext cx="5673494" cy="45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899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Why YOLOv26 Nano?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76689" y="3546424"/>
            <a:ext cx="7506481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Best </a:t>
            </a:r>
            <a:r>
              <a:rPr lang="en-US" sz="2399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speed-accuracy trade-off</a:t>
            </a:r>
            <a:r>
              <a:rPr lang="en-US" sz="23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for edge deployment. Key components: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76689" y="4485827"/>
            <a:ext cx="7506481" cy="311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18" indent="-289559" lvl="1">
              <a:lnSpc>
                <a:spcPts val="3599"/>
              </a:lnSpc>
              <a:buFont typeface="Arial"/>
              <a:buChar char="•"/>
            </a:pPr>
            <a:r>
              <a:rPr lang="en-US" b="true" sz="2399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Backbone</a:t>
            </a:r>
            <a:r>
              <a:rPr lang="en-US" sz="23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feature extraction</a:t>
            </a:r>
          </a:p>
          <a:p>
            <a:pPr algn="l" marL="579118" indent="-289559" lvl="1">
              <a:lnSpc>
                <a:spcPts val="3599"/>
              </a:lnSpc>
              <a:buFont typeface="Arial"/>
              <a:buChar char="•"/>
            </a:pPr>
            <a:r>
              <a:rPr lang="en-US" b="true" sz="2399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Feature Fusion Neck</a:t>
            </a:r>
            <a:r>
              <a:rPr lang="en-US" sz="23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multi-scale learning</a:t>
            </a:r>
          </a:p>
          <a:p>
            <a:pPr algn="l" marL="579118" indent="-289559" lvl="1">
              <a:lnSpc>
                <a:spcPts val="3599"/>
              </a:lnSpc>
              <a:buFont typeface="Arial"/>
              <a:buChar char="•"/>
            </a:pPr>
            <a:r>
              <a:rPr lang="en-US" b="true" sz="2399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Direct Regression Head</a:t>
            </a:r>
            <a:r>
              <a:rPr lang="en-US" sz="23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efficient prediction</a:t>
            </a:r>
          </a:p>
          <a:p>
            <a:pPr algn="l" marL="579118" indent="-289559" lvl="1">
              <a:lnSpc>
                <a:spcPts val="3599"/>
              </a:lnSpc>
              <a:buFont typeface="Arial"/>
              <a:buChar char="•"/>
            </a:pPr>
            <a:r>
              <a:rPr lang="en-US" b="true" sz="2399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STAL assignment + MuSGD optimizer</a:t>
            </a:r>
            <a:r>
              <a:rPr lang="en-US" sz="23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boosted training</a:t>
            </a:r>
          </a:p>
          <a:p>
            <a:pPr algn="l" marL="579118" indent="-289559" lvl="1">
              <a:lnSpc>
                <a:spcPts val="3599"/>
              </a:lnSpc>
              <a:buFont typeface="Arial"/>
              <a:buChar char="•"/>
            </a:pPr>
            <a:r>
              <a:rPr lang="en-US" b="true" sz="2399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FP16/INT8 quantization</a:t>
            </a:r>
            <a:r>
              <a:rPr lang="en-US" sz="23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faster real-time inference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76689" y="7961262"/>
            <a:ext cx="7506481" cy="177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Preprocessing is </a:t>
            </a:r>
            <a:r>
              <a:rPr lang="en-US" sz="2399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automated</a:t>
            </a:r>
            <a:r>
              <a:rPr lang="en-US" sz="23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by Ultralytics: letterbox padding, mosaic stitching, horizontal flips, and color modifications simulate varied road conditions and occlusion scenarios.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918251"/>
            <a:ext cx="7360842" cy="3006510"/>
            <a:chOff x="0" y="0"/>
            <a:chExt cx="3358089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58089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3580896">
                  <a:moveTo>
                    <a:pt x="0" y="0"/>
                  </a:moveTo>
                  <a:lnTo>
                    <a:pt x="33580896" y="0"/>
                  </a:lnTo>
                  <a:lnTo>
                    <a:pt x="33580896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 l="0" t="-2913" r="0" b="-291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385849" y="2623537"/>
            <a:ext cx="428278" cy="461664"/>
            <a:chOff x="0" y="0"/>
            <a:chExt cx="571037" cy="6155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1037" cy="615553"/>
            </a:xfrm>
            <a:custGeom>
              <a:avLst/>
              <a:gdLst/>
              <a:ahLst/>
              <a:cxnLst/>
              <a:rect r="r" b="b" t="t" l="l"/>
              <a:pathLst>
                <a:path h="615553" w="571037">
                  <a:moveTo>
                    <a:pt x="0" y="0"/>
                  </a:moveTo>
                  <a:lnTo>
                    <a:pt x="571037" y="0"/>
                  </a:lnTo>
                  <a:lnTo>
                    <a:pt x="571037" y="615553"/>
                  </a:lnTo>
                  <a:lnTo>
                    <a:pt x="0" y="6155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857" t="0" r="-15818" b="4842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71037" cy="6250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85849" y="2918822"/>
            <a:ext cx="8902151" cy="28575"/>
            <a:chOff x="0" y="0"/>
            <a:chExt cx="11869534" cy="381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869572" cy="38100"/>
            </a:xfrm>
            <a:custGeom>
              <a:avLst/>
              <a:gdLst/>
              <a:ahLst/>
              <a:cxnLst/>
              <a:rect r="r" b="b" t="t" l="l"/>
              <a:pathLst>
                <a:path h="38100" w="11869572">
                  <a:moveTo>
                    <a:pt x="0" y="0"/>
                  </a:moveTo>
                  <a:lnTo>
                    <a:pt x="11869572" y="0"/>
                  </a:lnTo>
                  <a:lnTo>
                    <a:pt x="11869572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164" r="0" b="-616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385849" y="4022522"/>
            <a:ext cx="428278" cy="461664"/>
            <a:chOff x="0" y="0"/>
            <a:chExt cx="571037" cy="6155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1037" cy="615553"/>
            </a:xfrm>
            <a:custGeom>
              <a:avLst/>
              <a:gdLst/>
              <a:ahLst/>
              <a:cxnLst/>
              <a:rect r="r" b="b" t="t" l="l"/>
              <a:pathLst>
                <a:path h="615553" w="571037">
                  <a:moveTo>
                    <a:pt x="0" y="0"/>
                  </a:moveTo>
                  <a:lnTo>
                    <a:pt x="571037" y="0"/>
                  </a:lnTo>
                  <a:lnTo>
                    <a:pt x="571037" y="615553"/>
                  </a:lnTo>
                  <a:lnTo>
                    <a:pt x="0" y="6155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857" t="0" r="-15818" b="4842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571037" cy="6250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85849" y="4298756"/>
            <a:ext cx="8902151" cy="28575"/>
            <a:chOff x="0" y="0"/>
            <a:chExt cx="11869534" cy="381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1869572" cy="38100"/>
            </a:xfrm>
            <a:custGeom>
              <a:avLst/>
              <a:gdLst/>
              <a:ahLst/>
              <a:cxnLst/>
              <a:rect r="r" b="b" t="t" l="l"/>
              <a:pathLst>
                <a:path h="38100" w="11869572">
                  <a:moveTo>
                    <a:pt x="0" y="0"/>
                  </a:moveTo>
                  <a:lnTo>
                    <a:pt x="11869572" y="0"/>
                  </a:lnTo>
                  <a:lnTo>
                    <a:pt x="11869572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164" r="0" b="-616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385849" y="5421506"/>
            <a:ext cx="428278" cy="461664"/>
            <a:chOff x="0" y="0"/>
            <a:chExt cx="571037" cy="6155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1037" cy="615553"/>
            </a:xfrm>
            <a:custGeom>
              <a:avLst/>
              <a:gdLst/>
              <a:ahLst/>
              <a:cxnLst/>
              <a:rect r="r" b="b" t="t" l="l"/>
              <a:pathLst>
                <a:path h="615553" w="571037">
                  <a:moveTo>
                    <a:pt x="0" y="0"/>
                  </a:moveTo>
                  <a:lnTo>
                    <a:pt x="571037" y="0"/>
                  </a:lnTo>
                  <a:lnTo>
                    <a:pt x="571037" y="615553"/>
                  </a:lnTo>
                  <a:lnTo>
                    <a:pt x="0" y="6155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857" t="0" r="-15818" b="4842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571037" cy="6250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85849" y="5678691"/>
            <a:ext cx="8902151" cy="28575"/>
            <a:chOff x="0" y="0"/>
            <a:chExt cx="11869534" cy="381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1869572" cy="38100"/>
            </a:xfrm>
            <a:custGeom>
              <a:avLst/>
              <a:gdLst/>
              <a:ahLst/>
              <a:cxnLst/>
              <a:rect r="r" b="b" t="t" l="l"/>
              <a:pathLst>
                <a:path h="38100" w="11869572">
                  <a:moveTo>
                    <a:pt x="0" y="0"/>
                  </a:moveTo>
                  <a:lnTo>
                    <a:pt x="11869572" y="0"/>
                  </a:lnTo>
                  <a:lnTo>
                    <a:pt x="11869572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164" r="0" b="-616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385849" y="6820500"/>
            <a:ext cx="428278" cy="461664"/>
            <a:chOff x="0" y="0"/>
            <a:chExt cx="571037" cy="6155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1037" cy="615553"/>
            </a:xfrm>
            <a:custGeom>
              <a:avLst/>
              <a:gdLst/>
              <a:ahLst/>
              <a:cxnLst/>
              <a:rect r="r" b="b" t="t" l="l"/>
              <a:pathLst>
                <a:path h="615553" w="571037">
                  <a:moveTo>
                    <a:pt x="0" y="0"/>
                  </a:moveTo>
                  <a:lnTo>
                    <a:pt x="571037" y="0"/>
                  </a:lnTo>
                  <a:lnTo>
                    <a:pt x="571037" y="615553"/>
                  </a:lnTo>
                  <a:lnTo>
                    <a:pt x="0" y="6155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857" t="0" r="-15818" b="4842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71037" cy="6250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85849" y="7058616"/>
            <a:ext cx="8902151" cy="28575"/>
            <a:chOff x="0" y="0"/>
            <a:chExt cx="11869534" cy="381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1869572" cy="38100"/>
            </a:xfrm>
            <a:custGeom>
              <a:avLst/>
              <a:gdLst/>
              <a:ahLst/>
              <a:cxnLst/>
              <a:rect r="r" b="b" t="t" l="l"/>
              <a:pathLst>
                <a:path h="38100" w="11869572">
                  <a:moveTo>
                    <a:pt x="0" y="0"/>
                  </a:moveTo>
                  <a:lnTo>
                    <a:pt x="11869572" y="0"/>
                  </a:lnTo>
                  <a:lnTo>
                    <a:pt x="11869572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164" r="0" b="-616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92238" y="8303123"/>
            <a:ext cx="16303523" cy="1010250"/>
            <a:chOff x="0" y="0"/>
            <a:chExt cx="21738031" cy="1347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738082" cy="1346962"/>
            </a:xfrm>
            <a:custGeom>
              <a:avLst/>
              <a:gdLst/>
              <a:ahLst/>
              <a:cxnLst/>
              <a:rect r="r" b="b" t="t" l="l"/>
              <a:pathLst>
                <a:path h="1346962" w="21738082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21699982" y="0"/>
                  </a:lnTo>
                  <a:cubicBezTo>
                    <a:pt x="21721065" y="0"/>
                    <a:pt x="21738082" y="17018"/>
                    <a:pt x="21738082" y="38100"/>
                  </a:cubicBezTo>
                  <a:lnTo>
                    <a:pt x="21738082" y="1308862"/>
                  </a:lnTo>
                  <a:cubicBezTo>
                    <a:pt x="21738082" y="1329944"/>
                    <a:pt x="21721065" y="1346962"/>
                    <a:pt x="21699982" y="1346962"/>
                  </a:cubicBezTo>
                  <a:lnTo>
                    <a:pt x="38100" y="1346962"/>
                  </a:lnTo>
                  <a:cubicBezTo>
                    <a:pt x="17018" y="1346962"/>
                    <a:pt x="0" y="1329944"/>
                    <a:pt x="0" y="1308862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92238" y="8303123"/>
            <a:ext cx="5434460" cy="1321294"/>
            <a:chOff x="0" y="0"/>
            <a:chExt cx="7245947" cy="17617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45985" cy="1761675"/>
            </a:xfrm>
            <a:custGeom>
              <a:avLst/>
              <a:gdLst/>
              <a:ahLst/>
              <a:cxnLst/>
              <a:rect r="r" b="b" t="t" l="l"/>
              <a:pathLst>
                <a:path h="1761675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1761675"/>
                  </a:lnTo>
                  <a:lnTo>
                    <a:pt x="0" y="1761675"/>
                  </a:ln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426698" y="8303123"/>
            <a:ext cx="5434460" cy="1321294"/>
            <a:chOff x="0" y="0"/>
            <a:chExt cx="7245947" cy="17617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245985" cy="1761675"/>
            </a:xfrm>
            <a:custGeom>
              <a:avLst/>
              <a:gdLst/>
              <a:ahLst/>
              <a:cxnLst/>
              <a:rect r="r" b="b" t="t" l="l"/>
              <a:pathLst>
                <a:path h="1761675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1761675"/>
                  </a:lnTo>
                  <a:lnTo>
                    <a:pt x="0" y="1761675"/>
                  </a:ln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426698" y="8303123"/>
            <a:ext cx="28575" cy="1010250"/>
            <a:chOff x="0" y="0"/>
            <a:chExt cx="38100" cy="1347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100" cy="1346962"/>
            </a:xfrm>
            <a:custGeom>
              <a:avLst/>
              <a:gdLst/>
              <a:ahLst/>
              <a:cxnLst/>
              <a:rect r="r" b="b" t="t" l="l"/>
              <a:pathLst>
                <a:path h="1346962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327912"/>
                  </a:lnTo>
                  <a:cubicBezTo>
                    <a:pt x="38100" y="1338453"/>
                    <a:pt x="29591" y="1346962"/>
                    <a:pt x="19050" y="1346962"/>
                  </a:cubicBezTo>
                  <a:cubicBezTo>
                    <a:pt x="8509" y="1346962"/>
                    <a:pt x="0" y="1338453"/>
                    <a:pt x="0" y="1327912"/>
                  </a:cubicBezTo>
                  <a:close/>
                </a:path>
              </a:pathLst>
            </a:custGeom>
            <a:solidFill>
              <a:srgbClr val="CFD2D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861159" y="8303123"/>
            <a:ext cx="5434460" cy="1321294"/>
            <a:chOff x="0" y="0"/>
            <a:chExt cx="7245947" cy="17617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245985" cy="1761675"/>
            </a:xfrm>
            <a:custGeom>
              <a:avLst/>
              <a:gdLst/>
              <a:ahLst/>
              <a:cxnLst/>
              <a:rect r="r" b="b" t="t" l="l"/>
              <a:pathLst>
                <a:path h="1761675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1761675"/>
                  </a:lnTo>
                  <a:lnTo>
                    <a:pt x="0" y="1761675"/>
                  </a:ln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861159" y="8303123"/>
            <a:ext cx="28575" cy="1010250"/>
            <a:chOff x="0" y="0"/>
            <a:chExt cx="38100" cy="1347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8100" cy="1346962"/>
            </a:xfrm>
            <a:custGeom>
              <a:avLst/>
              <a:gdLst/>
              <a:ahLst/>
              <a:cxnLst/>
              <a:rect r="r" b="b" t="t" l="l"/>
              <a:pathLst>
                <a:path h="1346962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327912"/>
                  </a:lnTo>
                  <a:cubicBezTo>
                    <a:pt x="38100" y="1338453"/>
                    <a:pt x="29591" y="1346962"/>
                    <a:pt x="19050" y="1346962"/>
                  </a:cubicBezTo>
                  <a:cubicBezTo>
                    <a:pt x="8509" y="1346962"/>
                    <a:pt x="0" y="1338453"/>
                    <a:pt x="0" y="1327912"/>
                  </a:cubicBezTo>
                  <a:close/>
                </a:path>
              </a:pathLst>
            </a:custGeom>
            <a:solidFill>
              <a:srgbClr val="CFD2D8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106538" y="935536"/>
            <a:ext cx="2022424" cy="222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8"/>
              </a:lnSpc>
            </a:pPr>
            <a:r>
              <a:rPr lang="en-US" sz="1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METHODOLOGY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92238" y="1247623"/>
            <a:ext cx="9298781" cy="61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699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PCE-Weighted Fuzzy Logic Controller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2238" y="2172443"/>
            <a:ext cx="5355737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Passenger Car Equivalent (PCE)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92238" y="2660880"/>
            <a:ext cx="7919437" cy="1115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1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Assigns weights per vehicle type (MKJI 1997 standard) for accurate congestion measurement in heterogeneous Indonesian traffic: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385849" y="2172443"/>
            <a:ext cx="4186244" cy="412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99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Fuzzy Logic Architecture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385849" y="3061697"/>
            <a:ext cx="2676736" cy="412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99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Fuzzification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385849" y="3458766"/>
            <a:ext cx="8902151" cy="397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6"/>
              </a:lnSpc>
            </a:pPr>
            <a:r>
              <a:rPr lang="en-US" sz="23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PCE density → fuzzy values (Low/Medium/High)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85849" y="4460681"/>
            <a:ext cx="2676736" cy="412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99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Inference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385849" y="4857750"/>
            <a:ext cx="8902151" cy="397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6"/>
              </a:lnSpc>
            </a:pPr>
            <a:r>
              <a:rPr lang="en-US" sz="23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Apply rule base to fuzzy inputs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385849" y="5859666"/>
            <a:ext cx="2676736" cy="412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99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Rule Evaluation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385849" y="6256734"/>
            <a:ext cx="8902151" cy="397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6"/>
              </a:lnSpc>
            </a:pPr>
            <a:r>
              <a:rPr lang="en-US" sz="23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Determine applicable green duration rules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385849" y="7258641"/>
            <a:ext cx="2676736" cy="412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99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Defuzzification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385849" y="7655719"/>
            <a:ext cx="8902151" cy="397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6"/>
              </a:lnSpc>
            </a:pPr>
            <a:r>
              <a:rPr lang="en-US" sz="23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Output crisp green light duration (seconds)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82738" y="8560298"/>
            <a:ext cx="2381250" cy="412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99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Motorcycle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82738" y="8906170"/>
            <a:ext cx="5053460" cy="397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6"/>
              </a:lnSpc>
            </a:pPr>
            <a:r>
              <a:rPr lang="en-US" sz="23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0.25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617198" y="8560298"/>
            <a:ext cx="2381250" cy="412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99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Light Vehicle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617198" y="8906170"/>
            <a:ext cx="5053460" cy="397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6"/>
              </a:lnSpc>
            </a:pPr>
            <a:r>
              <a:rPr lang="en-US" sz="23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1.0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051659" y="8560298"/>
            <a:ext cx="2381250" cy="412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99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Heavy Vehicle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051659" y="8906170"/>
            <a:ext cx="5053460" cy="397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6"/>
              </a:lnSpc>
            </a:pPr>
            <a:r>
              <a:rPr lang="en-US" sz="23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1.3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55094" y="2768651"/>
            <a:ext cx="12178032" cy="4234752"/>
            <a:chOff x="0" y="0"/>
            <a:chExt cx="39443606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44360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9443605">
                  <a:moveTo>
                    <a:pt x="0" y="0"/>
                  </a:moveTo>
                  <a:lnTo>
                    <a:pt x="39443605" y="0"/>
                  </a:lnTo>
                  <a:lnTo>
                    <a:pt x="39443605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 l="-277" t="0" r="-27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036444"/>
            <a:ext cx="1250004" cy="532800"/>
            <a:chOff x="0" y="0"/>
            <a:chExt cx="1666672" cy="710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66621" cy="710438"/>
            </a:xfrm>
            <a:custGeom>
              <a:avLst/>
              <a:gdLst/>
              <a:ahLst/>
              <a:cxnLst/>
              <a:rect r="r" b="b" t="t" l="l"/>
              <a:pathLst>
                <a:path h="710438" w="1666621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1621282" y="0"/>
                  </a:lnTo>
                  <a:cubicBezTo>
                    <a:pt x="1646301" y="0"/>
                    <a:pt x="1666621" y="20320"/>
                    <a:pt x="1666621" y="45339"/>
                  </a:cubicBezTo>
                  <a:lnTo>
                    <a:pt x="1666621" y="665099"/>
                  </a:lnTo>
                  <a:cubicBezTo>
                    <a:pt x="1666621" y="690118"/>
                    <a:pt x="1646301" y="710438"/>
                    <a:pt x="1621282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D7DFF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1045216"/>
            <a:ext cx="1824190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654073"/>
            <a:ext cx="15703744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Model Comparison &amp; Detection Performance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1830" y="7318534"/>
            <a:ext cx="8474091" cy="412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Why YOLOv26n Won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1830" y="7959242"/>
            <a:ext cx="14836529" cy="1299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Highest precision (0.9614)</a:t>
            </a:r>
            <a:r>
              <a:rPr lang="en-US" sz="21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and best localization accuracy (mAP@0.50:0.95 = </a:t>
            </a:r>
            <a:r>
              <a:rPr lang="en-US" sz="2199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0.8113</a:t>
            </a:r>
            <a:r>
              <a:rPr lang="en-US" sz="21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) among all compared models.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While YOLOv11n achieved the highest recall (0.9453) and F1-score (0.9517), </a:t>
            </a:r>
            <a:r>
              <a:rPr lang="en-US" sz="2199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YOLOv26n was selected</a:t>
            </a:r>
            <a:r>
              <a:rPr lang="en-US" sz="21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for its superior overall accuracy — critical for precise traffic density estimation and adaptive signal control.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831656"/>
            <a:ext cx="1094032" cy="446637"/>
            <a:chOff x="0" y="0"/>
            <a:chExt cx="1458709" cy="5955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58722" cy="595503"/>
            </a:xfrm>
            <a:custGeom>
              <a:avLst/>
              <a:gdLst/>
              <a:ahLst/>
              <a:cxnLst/>
              <a:rect r="r" b="b" t="t" l="l"/>
              <a:pathLst>
                <a:path h="595503" w="1458722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1418971" y="0"/>
                  </a:lnTo>
                  <a:cubicBezTo>
                    <a:pt x="1440942" y="0"/>
                    <a:pt x="1458722" y="17780"/>
                    <a:pt x="1458722" y="39751"/>
                  </a:cubicBezTo>
                  <a:lnTo>
                    <a:pt x="1458722" y="555752"/>
                  </a:lnTo>
                  <a:cubicBezTo>
                    <a:pt x="1458722" y="577723"/>
                    <a:pt x="1440942" y="595503"/>
                    <a:pt x="1418971" y="595503"/>
                  </a:cubicBezTo>
                  <a:lnTo>
                    <a:pt x="39751" y="595503"/>
                  </a:lnTo>
                  <a:cubicBezTo>
                    <a:pt x="17780" y="595503"/>
                    <a:pt x="0" y="577723"/>
                    <a:pt x="0" y="555752"/>
                  </a:cubicBezTo>
                  <a:close/>
                </a:path>
              </a:pathLst>
            </a:custGeom>
            <a:solidFill>
              <a:srgbClr val="D7DFF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1066" y="848916"/>
            <a:ext cx="1710776" cy="35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355531"/>
            <a:ext cx="10549233" cy="78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Adaptive System vs. Fixed Timer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2709710"/>
            <a:ext cx="8539561" cy="6146729"/>
            <a:chOff x="0" y="0"/>
            <a:chExt cx="10465600" cy="7533081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465562" cy="7533132"/>
            </a:xfrm>
            <a:custGeom>
              <a:avLst/>
              <a:gdLst/>
              <a:ahLst/>
              <a:cxnLst/>
              <a:rect r="r" b="b" t="t" l="l"/>
              <a:pathLst>
                <a:path h="7533132" w="10465562">
                  <a:moveTo>
                    <a:pt x="0" y="0"/>
                  </a:moveTo>
                  <a:lnTo>
                    <a:pt x="10465562" y="0"/>
                  </a:lnTo>
                  <a:lnTo>
                    <a:pt x="10465562" y="7533132"/>
                  </a:lnTo>
                  <a:lnTo>
                    <a:pt x="0" y="7533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" r="0" b="-1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456096" y="2673106"/>
            <a:ext cx="3576538" cy="35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137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Key Findings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0200518" y="3292447"/>
            <a:ext cx="3697859" cy="2564027"/>
          </a:xfrm>
          <a:custGeom>
            <a:avLst/>
            <a:gdLst/>
            <a:ahLst/>
            <a:cxnLst/>
            <a:rect r="r" b="b" t="t" l="l"/>
            <a:pathLst>
              <a:path h="2564027" w="3697859">
                <a:moveTo>
                  <a:pt x="0" y="0"/>
                </a:moveTo>
                <a:lnTo>
                  <a:pt x="3697859" y="0"/>
                </a:lnTo>
                <a:lnTo>
                  <a:pt x="3697859" y="2564026"/>
                </a:lnTo>
                <a:lnTo>
                  <a:pt x="0" y="256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" t="0" r="-8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579228" y="3550874"/>
            <a:ext cx="3005038" cy="385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2"/>
              </a:lnSpc>
            </a:pPr>
            <a:r>
              <a:rPr lang="en-US" sz="2325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33.3% Reduction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79228" y="4089197"/>
            <a:ext cx="3051188" cy="778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1841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Wasted green time dropped from </a:t>
            </a:r>
            <a:r>
              <a:rPr lang="en-US" sz="1841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4,781s → 3,188s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14108643" y="3292447"/>
            <a:ext cx="3697859" cy="2564027"/>
          </a:xfrm>
          <a:custGeom>
            <a:avLst/>
            <a:gdLst/>
            <a:ahLst/>
            <a:cxnLst/>
            <a:rect r="r" b="b" t="t" l="l"/>
            <a:pathLst>
              <a:path h="2564027" w="3697859">
                <a:moveTo>
                  <a:pt x="0" y="0"/>
                </a:moveTo>
                <a:lnTo>
                  <a:pt x="3697859" y="0"/>
                </a:lnTo>
                <a:lnTo>
                  <a:pt x="3697859" y="2564026"/>
                </a:lnTo>
                <a:lnTo>
                  <a:pt x="0" y="256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" t="0" r="-8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487353" y="3550874"/>
            <a:ext cx="3005038" cy="385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2"/>
              </a:lnSpc>
            </a:pPr>
            <a:r>
              <a:rPr lang="en-US" sz="2325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Dynamic Scaling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487353" y="4089197"/>
            <a:ext cx="3051188" cy="149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1841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Fuzzy system concentrates green phases around </a:t>
            </a:r>
            <a:r>
              <a:rPr lang="en-US" sz="1841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20–21 seconds</a:t>
            </a:r>
            <a:r>
              <a:rPr lang="en-US" sz="1841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, cutting off as demand declines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10200518" y="6066739"/>
            <a:ext cx="3697859" cy="2939710"/>
          </a:xfrm>
          <a:custGeom>
            <a:avLst/>
            <a:gdLst/>
            <a:ahLst/>
            <a:cxnLst/>
            <a:rect r="r" b="b" t="t" l="l"/>
            <a:pathLst>
              <a:path h="2939710" w="3697859">
                <a:moveTo>
                  <a:pt x="0" y="0"/>
                </a:moveTo>
                <a:lnTo>
                  <a:pt x="3697859" y="0"/>
                </a:lnTo>
                <a:lnTo>
                  <a:pt x="3697859" y="2939709"/>
                </a:lnTo>
                <a:lnTo>
                  <a:pt x="0" y="29397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3" r="0" b="-33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579228" y="6325166"/>
            <a:ext cx="3005038" cy="385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2"/>
              </a:lnSpc>
            </a:pPr>
            <a:r>
              <a:rPr lang="en-US" sz="2325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Edge Latency: 3.2ms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79228" y="6863489"/>
            <a:ext cx="3051188" cy="103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1841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Outperforms YOLOv8n (8.5ms) and Faster R-CNN (45.0ms) on edge devices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14108643" y="6066739"/>
            <a:ext cx="3697859" cy="2939710"/>
          </a:xfrm>
          <a:custGeom>
            <a:avLst/>
            <a:gdLst/>
            <a:ahLst/>
            <a:cxnLst/>
            <a:rect r="r" b="b" t="t" l="l"/>
            <a:pathLst>
              <a:path h="2939710" w="3697859">
                <a:moveTo>
                  <a:pt x="0" y="0"/>
                </a:moveTo>
                <a:lnTo>
                  <a:pt x="3697859" y="0"/>
                </a:lnTo>
                <a:lnTo>
                  <a:pt x="3697859" y="2939709"/>
                </a:lnTo>
                <a:lnTo>
                  <a:pt x="0" y="29397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3" r="0" b="-33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487353" y="6325166"/>
            <a:ext cx="3051188" cy="760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2"/>
              </a:lnSpc>
            </a:pPr>
            <a:r>
              <a:rPr lang="en-US" sz="2325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Throughput Trade-off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487353" y="7239181"/>
            <a:ext cx="3051188" cy="149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1841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YOLOv26n: 80.1 FPS on Tesla T4 — slower than YOLOv8n (115.5 FPS) but highest detection accuracy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7019" y="-627403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861422"/>
            <a:ext cx="1094032" cy="446637"/>
            <a:chOff x="0" y="0"/>
            <a:chExt cx="1458709" cy="5955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58722" cy="595503"/>
            </a:xfrm>
            <a:custGeom>
              <a:avLst/>
              <a:gdLst/>
              <a:ahLst/>
              <a:cxnLst/>
              <a:rect r="r" b="b" t="t" l="l"/>
              <a:pathLst>
                <a:path h="595503" w="1458722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1418971" y="0"/>
                  </a:lnTo>
                  <a:cubicBezTo>
                    <a:pt x="1440942" y="0"/>
                    <a:pt x="1458722" y="17780"/>
                    <a:pt x="1458722" y="39751"/>
                  </a:cubicBezTo>
                  <a:lnTo>
                    <a:pt x="1458722" y="555752"/>
                  </a:lnTo>
                  <a:cubicBezTo>
                    <a:pt x="1458722" y="577723"/>
                    <a:pt x="1440942" y="595503"/>
                    <a:pt x="1418971" y="595503"/>
                  </a:cubicBezTo>
                  <a:lnTo>
                    <a:pt x="39751" y="595503"/>
                  </a:lnTo>
                  <a:cubicBezTo>
                    <a:pt x="17780" y="595503"/>
                    <a:pt x="0" y="577723"/>
                    <a:pt x="0" y="555752"/>
                  </a:cubicBezTo>
                  <a:close/>
                </a:path>
              </a:pathLst>
            </a:custGeom>
            <a:solidFill>
              <a:srgbClr val="D7DFF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1066" y="878681"/>
            <a:ext cx="1710776" cy="35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385297"/>
            <a:ext cx="9798548" cy="78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Wasted Green Time Reduction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428723"/>
            <a:ext cx="17217923" cy="43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Column chart comparing Fixed Timer (4,781 seconds) vs Adaptive Fuzzy (3,188 seconds) wasted green time.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3111551"/>
            <a:ext cx="9978781" cy="3638550"/>
            <a:chOff x="0" y="0"/>
            <a:chExt cx="13305041" cy="48514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3305028" cy="4851400"/>
            </a:xfrm>
            <a:custGeom>
              <a:avLst/>
              <a:gdLst/>
              <a:ahLst/>
              <a:cxnLst/>
              <a:rect r="r" b="b" t="t" l="l"/>
              <a:pathLst>
                <a:path h="4851400" w="13305028">
                  <a:moveTo>
                    <a:pt x="0" y="0"/>
                  </a:moveTo>
                  <a:lnTo>
                    <a:pt x="13305028" y="0"/>
                  </a:lnTo>
                  <a:lnTo>
                    <a:pt x="13305028" y="4851400"/>
                  </a:lnTo>
                  <a:lnTo>
                    <a:pt x="0" y="4851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" t="0" r="-17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83059" y="6683426"/>
            <a:ext cx="17217923" cy="43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Key findings: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238" y="7610323"/>
            <a:ext cx="8043272" cy="1815113"/>
          </a:xfrm>
          <a:custGeom>
            <a:avLst/>
            <a:gdLst/>
            <a:ahLst/>
            <a:cxnLst/>
            <a:rect r="r" b="b" t="t" l="l"/>
            <a:pathLst>
              <a:path h="1815113" w="8043272">
                <a:moveTo>
                  <a:pt x="0" y="0"/>
                </a:moveTo>
                <a:lnTo>
                  <a:pt x="8043272" y="0"/>
                </a:lnTo>
                <a:lnTo>
                  <a:pt x="8043272" y="1815112"/>
                </a:lnTo>
                <a:lnTo>
                  <a:pt x="0" y="18151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1" r="0" b="-8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83059" y="7886852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33.3% Reduction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3059" y="8338099"/>
            <a:ext cx="7375922" cy="43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Adaptive control cut wasted green time by nearly a third.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252499" y="7610323"/>
            <a:ext cx="8043272" cy="1815113"/>
          </a:xfrm>
          <a:custGeom>
            <a:avLst/>
            <a:gdLst/>
            <a:ahLst/>
            <a:cxnLst/>
            <a:rect r="r" b="b" t="t" l="l"/>
            <a:pathLst>
              <a:path h="1815113" w="8043272">
                <a:moveTo>
                  <a:pt x="0" y="0"/>
                </a:moveTo>
                <a:lnTo>
                  <a:pt x="8043272" y="0"/>
                </a:lnTo>
                <a:lnTo>
                  <a:pt x="8043272" y="1815112"/>
                </a:lnTo>
                <a:lnTo>
                  <a:pt x="0" y="18151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1" r="0" b="-81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643320" y="7886852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Adaptive Advantage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43320" y="8338099"/>
            <a:ext cx="7375922" cy="810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Green time was used more efficiently, reducing idle periods and improving responsiveness.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57219" y="-68981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795185"/>
            <a:ext cx="1250004" cy="532800"/>
            <a:chOff x="0" y="0"/>
            <a:chExt cx="1666672" cy="710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66621" cy="710438"/>
            </a:xfrm>
            <a:custGeom>
              <a:avLst/>
              <a:gdLst/>
              <a:ahLst/>
              <a:cxnLst/>
              <a:rect r="r" b="b" t="t" l="l"/>
              <a:pathLst>
                <a:path h="710438" w="1666621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1621282" y="0"/>
                  </a:lnTo>
                  <a:cubicBezTo>
                    <a:pt x="1646301" y="0"/>
                    <a:pt x="1666621" y="20320"/>
                    <a:pt x="1666621" y="45339"/>
                  </a:cubicBezTo>
                  <a:lnTo>
                    <a:pt x="1666621" y="665099"/>
                  </a:lnTo>
                  <a:cubicBezTo>
                    <a:pt x="1666621" y="690118"/>
                    <a:pt x="1646301" y="710438"/>
                    <a:pt x="1621282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D7DFF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803967"/>
            <a:ext cx="1824190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412824"/>
            <a:ext cx="1216877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Inference Latency on Edge Device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2752573"/>
            <a:ext cx="10049618" cy="5513041"/>
            <a:chOff x="0" y="0"/>
            <a:chExt cx="13399491" cy="735072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3399515" cy="7350760"/>
            </a:xfrm>
            <a:custGeom>
              <a:avLst/>
              <a:gdLst/>
              <a:ahLst/>
              <a:cxnLst/>
              <a:rect r="r" b="b" t="t" l="l"/>
              <a:pathLst>
                <a:path h="7350760" w="13399515">
                  <a:moveTo>
                    <a:pt x="0" y="0"/>
                  </a:moveTo>
                  <a:lnTo>
                    <a:pt x="13399515" y="0"/>
                  </a:lnTo>
                  <a:lnTo>
                    <a:pt x="13399515" y="7350760"/>
                  </a:lnTo>
                  <a:lnTo>
                    <a:pt x="0" y="7350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" t="0" r="-25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238" y="8489309"/>
            <a:ext cx="1630352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YOLOv26 is the fastest model at </a:t>
            </a:r>
            <a:r>
              <a:rPr lang="en-US" sz="2199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3.2 ms</a:t>
            </a:r>
            <a:r>
              <a:rPr lang="en-US" sz="21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, making it the best fit for real-time edge control. That speed is critical for reacting quickly to live detector updates and keeping traffic signal decisions current.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7164" y="86631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034408" y="-563098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251937"/>
            <a:ext cx="1250004" cy="532800"/>
            <a:chOff x="0" y="0"/>
            <a:chExt cx="1666672" cy="710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66621" cy="710438"/>
            </a:xfrm>
            <a:custGeom>
              <a:avLst/>
              <a:gdLst/>
              <a:ahLst/>
              <a:cxnLst/>
              <a:rect r="r" b="b" t="t" l="l"/>
              <a:pathLst>
                <a:path h="710438" w="1666621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1621282" y="0"/>
                  </a:lnTo>
                  <a:cubicBezTo>
                    <a:pt x="1646301" y="0"/>
                    <a:pt x="1666621" y="20320"/>
                    <a:pt x="1666621" y="45339"/>
                  </a:cubicBezTo>
                  <a:lnTo>
                    <a:pt x="1666621" y="665099"/>
                  </a:lnTo>
                  <a:cubicBezTo>
                    <a:pt x="1666621" y="690118"/>
                    <a:pt x="1646301" y="710438"/>
                    <a:pt x="1621282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D7DFF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1260719"/>
            <a:ext cx="1824190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869577"/>
            <a:ext cx="17108091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Model Throughput Comparison on Tesla T4 GPU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3209334"/>
            <a:ext cx="11404406" cy="4599537"/>
            <a:chOff x="0" y="0"/>
            <a:chExt cx="15205875" cy="613271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5205838" cy="6132703"/>
            </a:xfrm>
            <a:custGeom>
              <a:avLst/>
              <a:gdLst/>
              <a:ahLst/>
              <a:cxnLst/>
              <a:rect r="r" b="b" t="t" l="l"/>
              <a:pathLst>
                <a:path h="6132703" w="15205838">
                  <a:moveTo>
                    <a:pt x="0" y="0"/>
                  </a:moveTo>
                  <a:lnTo>
                    <a:pt x="15205838" y="0"/>
                  </a:lnTo>
                  <a:lnTo>
                    <a:pt x="15205838" y="6132703"/>
                  </a:lnTo>
                  <a:lnTo>
                    <a:pt x="0" y="6132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" t="0" r="-17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238" y="8032556"/>
            <a:ext cx="1630352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YOLOv26n processes </a:t>
            </a:r>
            <a:r>
              <a:rPr lang="en-US" sz="2199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80.1 frames per second</a:t>
            </a:r>
            <a:r>
              <a:rPr lang="en-US" sz="21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, which is slower than YOLOv8n at </a:t>
            </a:r>
            <a:r>
              <a:rPr lang="en-US" sz="2199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115.5 FPS</a:t>
            </a:r>
            <a:r>
              <a:rPr lang="en-US" sz="2199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. However, for traffic control, accuracy is more important than speed. Better detection quality means better traffic decisions.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876005"/>
            <a:ext cx="1540373" cy="456905"/>
            <a:chOff x="0" y="0"/>
            <a:chExt cx="2053831" cy="6092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53844" cy="609219"/>
            </a:xfrm>
            <a:custGeom>
              <a:avLst/>
              <a:gdLst/>
              <a:ahLst/>
              <a:cxnLst/>
              <a:rect r="r" b="b" t="t" l="l"/>
              <a:pathLst>
                <a:path h="609219" w="2053844">
                  <a:moveTo>
                    <a:pt x="0" y="40386"/>
                  </a:moveTo>
                  <a:cubicBezTo>
                    <a:pt x="0" y="18034"/>
                    <a:pt x="18034" y="0"/>
                    <a:pt x="40386" y="0"/>
                  </a:cubicBezTo>
                  <a:lnTo>
                    <a:pt x="2013458" y="0"/>
                  </a:lnTo>
                  <a:cubicBezTo>
                    <a:pt x="2035810" y="0"/>
                    <a:pt x="2053844" y="18034"/>
                    <a:pt x="2053844" y="40386"/>
                  </a:cubicBezTo>
                  <a:lnTo>
                    <a:pt x="2053844" y="568833"/>
                  </a:lnTo>
                  <a:cubicBezTo>
                    <a:pt x="2053844" y="591185"/>
                    <a:pt x="2035810" y="609219"/>
                    <a:pt x="2013458" y="609219"/>
                  </a:cubicBezTo>
                  <a:lnTo>
                    <a:pt x="40386" y="609219"/>
                  </a:lnTo>
                  <a:cubicBezTo>
                    <a:pt x="18034" y="609219"/>
                    <a:pt x="0" y="591058"/>
                    <a:pt x="0" y="568833"/>
                  </a:cubicBezTo>
                  <a:close/>
                </a:path>
              </a:pathLst>
            </a:custGeom>
            <a:solidFill>
              <a:srgbClr val="D7DFF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3743" y="894607"/>
            <a:ext cx="2151755" cy="36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5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403747"/>
            <a:ext cx="8717909" cy="80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5"/>
              </a:lnSpc>
            </a:pPr>
            <a:r>
              <a:rPr lang="en-US" sz="4899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Conclusion &amp; Future Work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9534" y="2634339"/>
            <a:ext cx="8207426" cy="6861867"/>
            <a:chOff x="0" y="0"/>
            <a:chExt cx="10943234" cy="91491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43336" cy="9149207"/>
            </a:xfrm>
            <a:custGeom>
              <a:avLst/>
              <a:gdLst/>
              <a:ahLst/>
              <a:cxnLst/>
              <a:rect r="r" b="b" t="t" l="l"/>
              <a:pathLst>
                <a:path h="9149207" w="10943336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10892790" y="0"/>
                  </a:lnTo>
                  <a:cubicBezTo>
                    <a:pt x="10920730" y="0"/>
                    <a:pt x="10943336" y="22606"/>
                    <a:pt x="10943336" y="50546"/>
                  </a:cubicBezTo>
                  <a:lnTo>
                    <a:pt x="10943336" y="9098661"/>
                  </a:lnTo>
                  <a:cubicBezTo>
                    <a:pt x="10943336" y="9126601"/>
                    <a:pt x="10920730" y="9149207"/>
                    <a:pt x="10892790" y="9149207"/>
                  </a:cubicBezTo>
                  <a:lnTo>
                    <a:pt x="50546" y="9149207"/>
                  </a:lnTo>
                  <a:cubicBezTo>
                    <a:pt x="22606" y="9149207"/>
                    <a:pt x="0" y="9126601"/>
                    <a:pt x="0" y="9098661"/>
                  </a:cubicBezTo>
                  <a:close/>
                </a:path>
              </a:pathLst>
            </a:custGeom>
            <a:solidFill>
              <a:srgbClr val="3257B8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71946" y="2849690"/>
            <a:ext cx="3631506" cy="49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3"/>
              </a:lnSpc>
            </a:pPr>
            <a:r>
              <a:rPr lang="en-US" sz="3199" b="true">
                <a:solidFill>
                  <a:srgbClr val="FFFFFF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What We Achieved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809" y="3599193"/>
            <a:ext cx="7188875" cy="540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6241" indent="-343121" lvl="1">
              <a:lnSpc>
                <a:spcPts val="4300"/>
              </a:lnSpc>
              <a:buFont typeface="Arial"/>
              <a:buChar char="•"/>
            </a:pPr>
            <a:r>
              <a:rPr lang="en-US" sz="28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YOLOv26n achieved </a:t>
            </a:r>
            <a:r>
              <a:rPr lang="en-US" b="true" sz="284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0.9614 precision</a:t>
            </a:r>
            <a:r>
              <a:rPr lang="en-US" sz="28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b="true" sz="284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0.8113 mAP@0.50:0.95</a:t>
            </a:r>
            <a:r>
              <a:rPr lang="en-US" sz="28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on Indonesian vehicle dataset</a:t>
            </a:r>
          </a:p>
          <a:p>
            <a:pPr algn="l" marL="686241" indent="-343121" lvl="1">
              <a:lnSpc>
                <a:spcPts val="4300"/>
              </a:lnSpc>
              <a:buFont typeface="Arial"/>
              <a:buChar char="•"/>
            </a:pPr>
            <a:r>
              <a:rPr lang="en-US" sz="28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PCE-weighted fuzzy logic reduced wasted green time by </a:t>
            </a:r>
            <a:r>
              <a:rPr lang="en-US" b="true" sz="284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33.3%</a:t>
            </a:r>
            <a:r>
              <a:rPr lang="en-US" sz="28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vs. fixed timers</a:t>
            </a:r>
          </a:p>
          <a:p>
            <a:pPr algn="l" marL="686241" indent="-343121" lvl="1">
              <a:lnSpc>
                <a:spcPts val="4300"/>
              </a:lnSpc>
              <a:buFont typeface="Arial"/>
              <a:buChar char="•"/>
            </a:pPr>
            <a:r>
              <a:rPr lang="en-US" sz="28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Edge inference at </a:t>
            </a:r>
            <a:r>
              <a:rPr lang="en-US" b="true" sz="284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3.2ms</a:t>
            </a:r>
            <a:r>
              <a:rPr lang="en-US" sz="28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— suitable for real-time deployment</a:t>
            </a:r>
          </a:p>
          <a:p>
            <a:pPr algn="l" marL="686241" indent="-343121" lvl="1">
              <a:lnSpc>
                <a:spcPts val="4300"/>
              </a:lnSpc>
              <a:buFont typeface="Arial"/>
              <a:buChar char="•"/>
            </a:pPr>
            <a:r>
              <a:rPr lang="en-US" sz="28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Scalable, responsive framework for </a:t>
            </a:r>
            <a:r>
              <a:rPr lang="en-US" b="true" sz="284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smart city congestion management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64863" y="2354761"/>
            <a:ext cx="5415062" cy="53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5"/>
              </a:lnSpc>
            </a:pPr>
            <a:r>
              <a:rPr lang="en-US" sz="3385" b="true">
                <a:solidFill>
                  <a:srgbClr val="3257B8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Limitations &amp; Future Work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9664863" y="3242526"/>
            <a:ext cx="376550" cy="376550"/>
          </a:xfrm>
          <a:custGeom>
            <a:avLst/>
            <a:gdLst/>
            <a:ahLst/>
            <a:cxnLst/>
            <a:rect r="r" b="b" t="t" l="l"/>
            <a:pathLst>
              <a:path h="376550" w="376550">
                <a:moveTo>
                  <a:pt x="0" y="0"/>
                </a:moveTo>
                <a:lnTo>
                  <a:pt x="376550" y="0"/>
                </a:lnTo>
                <a:lnTo>
                  <a:pt x="376550" y="376551"/>
                </a:lnTo>
                <a:lnTo>
                  <a:pt x="0" y="3765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48" t="0" r="-8751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386441" y="3225236"/>
            <a:ext cx="4001592" cy="43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6"/>
              </a:lnSpc>
            </a:pPr>
            <a:r>
              <a:rPr lang="en-US" sz="2785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Real-World Deployment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86441" y="3774350"/>
            <a:ext cx="6982025" cy="861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288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Validate on actual urban infrastructure beyond simulation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9664863" y="4685095"/>
            <a:ext cx="376550" cy="376550"/>
          </a:xfrm>
          <a:custGeom>
            <a:avLst/>
            <a:gdLst/>
            <a:ahLst/>
            <a:cxnLst/>
            <a:rect r="r" b="b" t="t" l="l"/>
            <a:pathLst>
              <a:path h="376550" w="376550">
                <a:moveTo>
                  <a:pt x="0" y="0"/>
                </a:moveTo>
                <a:lnTo>
                  <a:pt x="376550" y="0"/>
                </a:lnTo>
                <a:lnTo>
                  <a:pt x="376550" y="376551"/>
                </a:lnTo>
                <a:lnTo>
                  <a:pt x="0" y="3765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48" t="0" r="-8751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386441" y="4667796"/>
            <a:ext cx="4002484" cy="43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6"/>
              </a:lnSpc>
            </a:pPr>
            <a:r>
              <a:rPr lang="en-US" sz="2785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Multi-Intersection Sync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86441" y="5216919"/>
            <a:ext cx="6982025" cy="423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288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Coordinate signals across multiple intersections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9664863" y="6127664"/>
            <a:ext cx="376550" cy="376550"/>
          </a:xfrm>
          <a:custGeom>
            <a:avLst/>
            <a:gdLst/>
            <a:ahLst/>
            <a:cxnLst/>
            <a:rect r="r" b="b" t="t" l="l"/>
            <a:pathLst>
              <a:path h="376550" w="376550">
                <a:moveTo>
                  <a:pt x="0" y="0"/>
                </a:moveTo>
                <a:lnTo>
                  <a:pt x="376550" y="0"/>
                </a:lnTo>
                <a:lnTo>
                  <a:pt x="376550" y="376551"/>
                </a:lnTo>
                <a:lnTo>
                  <a:pt x="0" y="3765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48" t="0" r="-8751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386441" y="6110365"/>
            <a:ext cx="3204766" cy="43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6"/>
              </a:lnSpc>
            </a:pPr>
            <a:r>
              <a:rPr lang="en-US" sz="2785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Additional Sensors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86441" y="6659488"/>
            <a:ext cx="6982025" cy="861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288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Integrate radar and thermal cameras for all-weather robustness</a:t>
            </a:r>
          </a:p>
        </p:txBody>
      </p:sp>
      <p:sp>
        <p:nvSpPr>
          <p:cNvPr name="Freeform 24" id="24" descr="preencoded.png"/>
          <p:cNvSpPr/>
          <p:nvPr/>
        </p:nvSpPr>
        <p:spPr>
          <a:xfrm flipH="false" flipV="false" rot="0">
            <a:off x="9664863" y="7949880"/>
            <a:ext cx="376550" cy="376550"/>
          </a:xfrm>
          <a:custGeom>
            <a:avLst/>
            <a:gdLst/>
            <a:ahLst/>
            <a:cxnLst/>
            <a:rect r="r" b="b" t="t" l="l"/>
            <a:pathLst>
              <a:path h="376550" w="376550">
                <a:moveTo>
                  <a:pt x="0" y="0"/>
                </a:moveTo>
                <a:lnTo>
                  <a:pt x="376550" y="0"/>
                </a:lnTo>
                <a:lnTo>
                  <a:pt x="376550" y="376551"/>
                </a:lnTo>
                <a:lnTo>
                  <a:pt x="0" y="3765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48" t="0" r="-8751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386441" y="7932591"/>
            <a:ext cx="2704207" cy="43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6"/>
              </a:lnSpc>
            </a:pPr>
            <a:r>
              <a:rPr lang="en-US" sz="2785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CAV Integration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86441" y="8481704"/>
            <a:ext cx="6982025" cy="861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288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Enhance fuzzy logic for connected and autonomous vehicles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17021" y="6361490"/>
            <a:ext cx="3759653" cy="974427"/>
            <a:chOff x="0" y="0"/>
            <a:chExt cx="635000" cy="1645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" cy="164579"/>
            </a:xfrm>
            <a:custGeom>
              <a:avLst/>
              <a:gdLst/>
              <a:ahLst/>
              <a:cxnLst/>
              <a:rect r="r" b="b" t="t" l="l"/>
              <a:pathLst>
                <a:path h="164579" w="635000">
                  <a:moveTo>
                    <a:pt x="40219" y="0"/>
                  </a:moveTo>
                  <a:lnTo>
                    <a:pt x="594781" y="0"/>
                  </a:lnTo>
                  <a:cubicBezTo>
                    <a:pt x="616993" y="0"/>
                    <a:pt x="635000" y="18007"/>
                    <a:pt x="635000" y="40219"/>
                  </a:cubicBezTo>
                  <a:lnTo>
                    <a:pt x="635000" y="124360"/>
                  </a:lnTo>
                  <a:cubicBezTo>
                    <a:pt x="635000" y="146573"/>
                    <a:pt x="616993" y="164579"/>
                    <a:pt x="594781" y="164579"/>
                  </a:cubicBezTo>
                  <a:lnTo>
                    <a:pt x="40219" y="164579"/>
                  </a:lnTo>
                  <a:cubicBezTo>
                    <a:pt x="18007" y="164579"/>
                    <a:pt x="0" y="146573"/>
                    <a:pt x="0" y="124360"/>
                  </a:cubicBezTo>
                  <a:lnTo>
                    <a:pt x="0" y="40219"/>
                  </a:lnTo>
                  <a:cubicBezTo>
                    <a:pt x="0" y="18007"/>
                    <a:pt x="18007" y="0"/>
                    <a:pt x="40219" y="0"/>
                  </a:cubicBezTo>
                  <a:close/>
                </a:path>
              </a:pathLst>
            </a:custGeom>
            <a:solidFill>
              <a:srgbClr val="1C3F9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635000" cy="240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195871" y="2930128"/>
            <a:ext cx="8095154" cy="1150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3"/>
              </a:lnSpc>
            </a:pPr>
            <a:r>
              <a:rPr lang="en-US" sz="7406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Thank You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5038" y="4791647"/>
            <a:ext cx="17416973" cy="564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8"/>
              </a:lnSpc>
            </a:pPr>
            <a:r>
              <a:rPr lang="en-US" sz="2962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We appreciate your time and attention. Here are some resources for further exploration.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49694" y="6499362"/>
            <a:ext cx="5494306" cy="687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8"/>
              </a:lnSpc>
            </a:pPr>
            <a:r>
              <a:rPr lang="en-US" sz="4429" u="sng">
                <a:solidFill>
                  <a:srgbClr val="FBFCFE"/>
                </a:solidFill>
                <a:latin typeface="Roboto Slab"/>
                <a:ea typeface="Roboto Slab"/>
                <a:cs typeface="Roboto Slab"/>
                <a:sym typeface="Roboto Slab"/>
                <a:hlinkClick r:id="rId2" tooltip="https://colab.research.google.com/drive/1FinUPdezVD6gWCcihZl1IIr3x1-TDU0p?usp=sharing"/>
              </a:rPr>
              <a:t>Code Link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110774" y="6365813"/>
            <a:ext cx="3759653" cy="974427"/>
            <a:chOff x="0" y="0"/>
            <a:chExt cx="635000" cy="1645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" cy="164579"/>
            </a:xfrm>
            <a:custGeom>
              <a:avLst/>
              <a:gdLst/>
              <a:ahLst/>
              <a:cxnLst/>
              <a:rect r="r" b="b" t="t" l="l"/>
              <a:pathLst>
                <a:path h="164579" w="635000">
                  <a:moveTo>
                    <a:pt x="40219" y="0"/>
                  </a:moveTo>
                  <a:lnTo>
                    <a:pt x="594781" y="0"/>
                  </a:lnTo>
                  <a:cubicBezTo>
                    <a:pt x="616993" y="0"/>
                    <a:pt x="635000" y="18007"/>
                    <a:pt x="635000" y="40219"/>
                  </a:cubicBezTo>
                  <a:lnTo>
                    <a:pt x="635000" y="124360"/>
                  </a:lnTo>
                  <a:cubicBezTo>
                    <a:pt x="635000" y="146573"/>
                    <a:pt x="616993" y="164579"/>
                    <a:pt x="594781" y="164579"/>
                  </a:cubicBezTo>
                  <a:lnTo>
                    <a:pt x="40219" y="164579"/>
                  </a:lnTo>
                  <a:cubicBezTo>
                    <a:pt x="18007" y="164579"/>
                    <a:pt x="0" y="146573"/>
                    <a:pt x="0" y="124360"/>
                  </a:cubicBezTo>
                  <a:lnTo>
                    <a:pt x="0" y="40219"/>
                  </a:lnTo>
                  <a:cubicBezTo>
                    <a:pt x="0" y="18007"/>
                    <a:pt x="18007" y="0"/>
                    <a:pt x="40219" y="0"/>
                  </a:cubicBezTo>
                  <a:close/>
                </a:path>
              </a:pathLst>
            </a:custGeom>
            <a:solidFill>
              <a:srgbClr val="1C3F9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635000" cy="240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243448" y="6499362"/>
            <a:ext cx="5494306" cy="687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8"/>
              </a:lnSpc>
            </a:pPr>
            <a:r>
              <a:rPr lang="en-US" sz="4429" u="sng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  <a:hlinkClick r:id="rId3" tooltip="https://universe.roboflow.com/arkhsat-project/indonesia-vehicle-ww6hv"/>
              </a:rPr>
              <a:t>Dataset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DAHN99Q-SRM</dc:identifier>
  <dcterms:modified xsi:type="dcterms:W3CDTF">2011-08-01T06:04:30Z</dcterms:modified>
  <cp:revision>1</cp:revision>
  <dc:title>Adaptive-Traffic-Signal-Optimization-Using-YOLOv26-Object-Detection-and-PCE-Weighted-Fuzzy-Logic (1).pptx</dc:title>
</cp:coreProperties>
</file>